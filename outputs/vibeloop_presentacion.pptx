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858e6c3f643ff" /><Relationship Type="http://schemas.openxmlformats.org/officeDocument/2006/relationships/extended-properties" Target="/docProps/app.xml" Id="Re163f0d4deab4087" /><Relationship Type="http://schemas.openxmlformats.org/officeDocument/2006/relationships/officeDocument" Target="/ppt/presentation.xml" Id="Rc569c2a0156d4c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4f1e4e58943a9"/>
  </p:sldMasterIdLst>
  <p:notesMasterIdLst>
    <p:notesMasterId xmlns:r="http://schemas.openxmlformats.org/officeDocument/2006/relationships" r:id="R12022cde031549a5"/>
  </p:notesMasterIdLst>
  <p:sldIdLst>
    <p:sldId xmlns:r="http://schemas.openxmlformats.org/officeDocument/2006/relationships" id="256" r:id="R714ee2ead9e24ef2"/>
    <p:sldId xmlns:r="http://schemas.openxmlformats.org/officeDocument/2006/relationships" id="257" r:id="R6f838c966e4544f6"/>
    <p:sldId xmlns:r="http://schemas.openxmlformats.org/officeDocument/2006/relationships" id="258" r:id="R73d8d4e3587e4604"/>
    <p:sldId xmlns:r="http://schemas.openxmlformats.org/officeDocument/2006/relationships" id="259" r:id="R2dddd184c02b4623"/>
    <p:sldId xmlns:r="http://schemas.openxmlformats.org/officeDocument/2006/relationships" id="260" r:id="R86c10bad39084758"/>
    <p:sldId xmlns:r="http://schemas.openxmlformats.org/officeDocument/2006/relationships" id="261" r:id="R218ff25ea67147f1"/>
    <p:sldId xmlns:r="http://schemas.openxmlformats.org/officeDocument/2006/relationships" id="262" r:id="Re5df45f515ca45d6"/>
    <p:sldId xmlns:r="http://schemas.openxmlformats.org/officeDocument/2006/relationships" id="263" r:id="R223fba70355b4e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2aef1375d448c" /><Relationship Type="http://schemas.openxmlformats.org/officeDocument/2006/relationships/slideMaster" Target="/ppt/slideMasters/slideMaster1.xml" Id="R4134f1e4e58943a9" /><Relationship Type="http://schemas.openxmlformats.org/officeDocument/2006/relationships/notesMaster" Target="/ppt/notesMasters/notesMaster1.xml" Id="R12022cde031549a5" /><Relationship Type="http://schemas.openxmlformats.org/officeDocument/2006/relationships/presProps" Target="/ppt/presProps.xml" Id="Red23769d342541ca" /><Relationship Type="http://schemas.openxmlformats.org/officeDocument/2006/relationships/tableStyles" Target="/ppt/tableStyles.xml" Id="Rb1434465e9c44543" /><Relationship Type="http://schemas.openxmlformats.org/officeDocument/2006/relationships/slide" Target="/ppt/slides/slide1.xml" Id="R714ee2ead9e24ef2" /><Relationship Type="http://schemas.openxmlformats.org/officeDocument/2006/relationships/slide" Target="/ppt/slides/slide2.xml" Id="R6f838c966e4544f6" /><Relationship Type="http://schemas.openxmlformats.org/officeDocument/2006/relationships/slide" Target="/ppt/slides/slide3.xml" Id="R73d8d4e3587e4604" /><Relationship Type="http://schemas.openxmlformats.org/officeDocument/2006/relationships/slide" Target="/ppt/slides/slide4.xml" Id="R2dddd184c02b4623" /><Relationship Type="http://schemas.openxmlformats.org/officeDocument/2006/relationships/slide" Target="/ppt/slides/slide5.xml" Id="R86c10bad39084758" /><Relationship Type="http://schemas.openxmlformats.org/officeDocument/2006/relationships/slide" Target="/ppt/slides/slide6.xml" Id="R218ff25ea67147f1" /><Relationship Type="http://schemas.openxmlformats.org/officeDocument/2006/relationships/slide" Target="/ppt/slides/slide7.xml" Id="Re5df45f515ca45d6" /><Relationship Type="http://schemas.openxmlformats.org/officeDocument/2006/relationships/slide" Target="/ppt/slides/slide8.xml" Id="R223fba70355b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09c7adc2f43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1f7690e24431b" /><Relationship Type="http://schemas.openxmlformats.org/officeDocument/2006/relationships/notesMaster" Target="/ppt/notesMasters/notesMaster1.xml" Id="Rb9385b0a40b4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3c232757b414c" /><Relationship Type="http://schemas.openxmlformats.org/officeDocument/2006/relationships/notesMaster" Target="/ppt/notesMasters/notesMaster1.xml" Id="R8ed143d93be646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55a50f9fd4214" /><Relationship Type="http://schemas.openxmlformats.org/officeDocument/2006/relationships/notesMaster" Target="/ppt/notesMasters/notesMaster1.xml" Id="Ra4bc4e2b962e49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02edfc3e7a49ac" /><Relationship Type="http://schemas.openxmlformats.org/officeDocument/2006/relationships/notesMaster" Target="/ppt/notesMasters/notesMaster1.xml" Id="R8dc112566728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4cec81a4964fd9" /><Relationship Type="http://schemas.openxmlformats.org/officeDocument/2006/relationships/notesMaster" Target="/ppt/notesMasters/notesMaster1.xml" Id="Re2b23205410f43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997deaead84c70" /><Relationship Type="http://schemas.openxmlformats.org/officeDocument/2006/relationships/notesMaster" Target="/ppt/notesMasters/notesMaster1.xml" Id="R03e235457c284a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292ad91b424bcb" /><Relationship Type="http://schemas.openxmlformats.org/officeDocument/2006/relationships/notesMaster" Target="/ppt/notesMasters/notesMaster1.xml" Id="R4dde54301d4d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191eb753454394" /><Relationship Type="http://schemas.openxmlformats.org/officeDocument/2006/relationships/notesMaster" Target="/ppt/notesMasters/notesMaster1.xml" Id="R817ad2e0fb704b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60fbbc45c4b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5f288a7f4944fb" /><Relationship Type="http://schemas.openxmlformats.org/officeDocument/2006/relationships/slideLayout" Target="/ppt/slideLayouts/slideLayout1.xml" Id="R19f2e07b225e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2e07b225e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045da142a4747" /><Relationship Type="http://schemas.openxmlformats.org/officeDocument/2006/relationships/image" Target="/ppt/media/image.png" Id="R43024e6b4f3444a2" /><Relationship Type="http://schemas.openxmlformats.org/officeDocument/2006/relationships/image" Target="/ppt/media/image2.png" Id="Ra69d599a398046ed" /><Relationship Type="http://schemas.openxmlformats.org/officeDocument/2006/relationships/notesSlide" Target="/ppt/notesSlides/notesSlide1.xml" Id="R83a9936956e245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71052243e443a" /><Relationship Type="http://schemas.openxmlformats.org/officeDocument/2006/relationships/image" Target="/ppt/media/image3.png" Id="Rbd32a4759ae24ef5" /><Relationship Type="http://schemas.openxmlformats.org/officeDocument/2006/relationships/notesSlide" Target="/ppt/notesSlides/notesSlide2.xml" Id="Ra605c2358e40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be6643584017" /><Relationship Type="http://schemas.openxmlformats.org/officeDocument/2006/relationships/image" Target="/ppt/media/image4.png" Id="R4f14e3e1f7534f81" /><Relationship Type="http://schemas.openxmlformats.org/officeDocument/2006/relationships/notesSlide" Target="/ppt/notesSlides/notesSlide3.xml" Id="R3a3ce1fecdb14f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06acf8334036" /><Relationship Type="http://schemas.openxmlformats.org/officeDocument/2006/relationships/image" Target="/ppt/media/image5.png" Id="Re52a3852b8d44726" /><Relationship Type="http://schemas.openxmlformats.org/officeDocument/2006/relationships/notesSlide" Target="/ppt/notesSlides/notesSlide4.xml" Id="Rfdb6e140414744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f11eb0464c85" /><Relationship Type="http://schemas.openxmlformats.org/officeDocument/2006/relationships/image" Target="/ppt/media/image6.png" Id="Rc62a7b70c92947df" /><Relationship Type="http://schemas.openxmlformats.org/officeDocument/2006/relationships/notesSlide" Target="/ppt/notesSlides/notesSlide5.xml" Id="Rf17607dde7df4d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f4739ce0a4ec5" /><Relationship Type="http://schemas.openxmlformats.org/officeDocument/2006/relationships/image" Target="/ppt/media/image7.png" Id="R83d37026cecd41ea" /><Relationship Type="http://schemas.openxmlformats.org/officeDocument/2006/relationships/notesSlide" Target="/ppt/notesSlides/notesSlide6.xml" Id="R1c1b59699b9147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c3bba0dc49ba" /><Relationship Type="http://schemas.openxmlformats.org/officeDocument/2006/relationships/image" Target="/ppt/media/image8.png" Id="R22732fec71bf47cb" /><Relationship Type="http://schemas.openxmlformats.org/officeDocument/2006/relationships/image" Target="/ppt/media/image9.png" Id="R1f414f1b9d224828" /><Relationship Type="http://schemas.openxmlformats.org/officeDocument/2006/relationships/notesSlide" Target="/ppt/notesSlides/notesSlide7.xml" Id="Ra9b1f96b5a484c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f4e01ad4644df" /><Relationship Type="http://schemas.openxmlformats.org/officeDocument/2006/relationships/image" Target="/ppt/media/image10.png" Id="Rbc7c3b6be1f84bed" /><Relationship Type="http://schemas.openxmlformats.org/officeDocument/2006/relationships/image" Target="/ppt/media/image11.png" Id="Rdbf0211aca4f4631" /><Relationship Type="http://schemas.openxmlformats.org/officeDocument/2006/relationships/notesSlide" Target="/ppt/notesSlides/notesSlide8.xml" Id="Rfa5fe4e98cc14aa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E22"/>
            </a:gs>
            <a:gs pos="50000">
              <a:srgbClr val="131533"/>
            </a:gs>
            <a:gs pos="100000">
              <a:srgbClr val="26124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E6B6D-8275-482A-AA84-072A37A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6">
                  <a:alpha val="40000"/>
                </a:srgbClr>
              </a:gs>
              <a:gs pos="72000">
                <a:srgbClr val="8B5CF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5A845-F354-44A2-B57E-A2AD72A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8C7FF">
                  <a:alpha val="28000"/>
                </a:srgbClr>
              </a:gs>
              <a:gs pos="70000">
                <a:srgbClr val="28C7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7011A-0CFD-4528-BAA2-1478EDF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2476500" cy="2476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A78BFA">
                  <a:alpha val="22000"/>
                </a:srgbClr>
              </a:gs>
              <a:gs pos="74000">
                <a:srgbClr val="A78BF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70F2D-9F8F-4406-B6A6-19017D17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24e6b4f3444a2"/>
          <a:stretch xmlns:a="http://schemas.openxmlformats.org/drawingml/2006/main"/>
        </p:blipFill>
        <p:spPr>
          <a:xfrm xmlns:a="http://schemas.openxmlformats.org/drawingml/2006/main">
            <a:off x="809625" y="790575"/>
            <a:ext cx="476250" cy="47625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4D5F7-1699-4630-A82C-C64196F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VibeLoop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EFB86-6EF5-4A4A-AFCB-97720A2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5E7EB"/>
                </a:solidFill>
                <a:latin typeface="Inter"/>
                <a:ea typeface="Inter"/>
                <a:cs typeface="Inter"/>
              </a:defRPr>
            </a:pPr>
            <a:r>
              <a:rPr sz="2100">
                <a:solidFill>
                  <a:srgbClr val="E5E7EB"/>
                </a:solidFill>
                <a:latin typeface="Inter"/>
                <a:ea typeface="Inter"/>
                <a:cs typeface="Inter"/>
              </a:rPr>
              <a:t>Comunidades privadas que vuelven a conversar.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CA4DE-781E-4155-BB69-EDB8156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CBD8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C7CBD8"/>
                </a:solidFill>
                <a:latin typeface="Inter"/>
                <a:ea typeface="Inter"/>
                <a:cs typeface="Inter"/>
              </a:rPr>
              <a:t>Grupos, chat en tiempo real, fotos, invitaciones y buzón anónimo dentro de una sola experiencia.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B408D-B088-4628-9A85-B842D361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Grupos privados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181D1-BC26-4CF8-9E76-7321A09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1657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Chat en tiempo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C6DDE-024E-460C-859F-3ADEDDB1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19700"/>
            <a:ext cx="1657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Buzón anónimo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A66A7-A4B0-4E60-87B3-0C321E4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"/>
            <a:ext cx="4095750" cy="58293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D1026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599a398046ed"/>
          <a:stretch xmlns:a="http://schemas.openxmlformats.org/drawingml/2006/main"/>
        </p:blipFill>
        <p:spPr>
          <a:xfrm xmlns:a="http://schemas.openxmlformats.org/drawingml/2006/main">
            <a:off x="7942898" y="781050"/>
            <a:ext cx="2383155" cy="5295900"/>
          </a:xfrm>
          <a:prstGeom xmlns:a="http://schemas.openxmlformats.org/drawingml/2006/main" prst="roundRect">
            <a:avLst>
              <a:gd name="adj" fmla="val 6417"/>
            </a:avLst>
          </a:prstGeom>
        </p:spPr>
      </p:pic>
    </p:spTree>
    <p:extLst>
      <p:ext uri="{BB962C8B-B14F-4D97-AF65-F5344CB8AC3E}">
        <p14:creationId xmlns:p14="http://schemas.microsoft.com/office/powerpoint/2010/main" val="1191658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854AF-8984-4612-BC64-C9925330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C5CFF">
                  <a:alpha val="10000"/>
                </a:srgbClr>
              </a:gs>
              <a:gs pos="74000">
                <a:srgbClr val="7C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EF3A1-313A-4A3E-9BAF-43E2C640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8C7FF">
                  <a:alpha val="10000"/>
                </a:srgbClr>
              </a:gs>
              <a:gs pos="72000">
                <a:srgbClr val="28C7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A3E5-C69B-4E1D-BA85-91A7C907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B7280"/>
                </a:solidFill>
                <a:latin typeface="Inter"/>
                <a:ea typeface="Inter"/>
                <a:cs typeface="Inter"/>
              </a:rPr>
              <a:t>02  Qué 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878EC-909F-439A-B4C1-1219B82E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95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VibeLoop es una plataforma social para comunidades privadas.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F6085-970E-4466-BC5D-3B3303C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experiencia empieza por invitación y sigue dentro del grupo: conversar, compartir fotos, reaccionar y abrir el buzón anónimo sin salir del mismo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EBC3F-49A4-4504-9F2C-E9B7FDB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193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42C47-6D3F-4FCD-AA83-B618520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147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C5CFF">
                  <a:alpha val="32000"/>
                </a:srgbClr>
              </a:gs>
              <a:gs pos="72000">
                <a:srgbClr val="7C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6381A-5D4E-4C9A-A352-8FE78E6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Grupos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3E679-70E5-488A-906B-EB2FCDD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5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Cada comunidad vive en un espacio propio, con miembros, portada, invitación y control de acceso.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459C1-822D-457D-919B-32995E8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20193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4161B-A327-48FB-B0D9-7A9BE7D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F7DFF">
                  <a:alpha val="32000"/>
                </a:srgbClr>
              </a:gs>
              <a:gs pos="72000">
                <a:srgbClr val="4F7D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0AF75-73F3-47AD-92AB-E56CB718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2DC3D-82FA-4A4B-B41B-F0CED92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95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5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Las conversaciones pasan en tiempo real y mantienen a la comunidad conectada en el día a día.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F9746-1A21-486E-B0E2-588775D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20193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1022C-77D2-466D-B9D0-8DD55D2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D399">
                  <a:alpha val="32000"/>
                </a:srgbClr>
              </a:gs>
              <a:gs pos="72000">
                <a:srgbClr val="36D399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D16E5-E532-41F1-ABE1-780F759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Anónimo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34A41-875F-4EC7-A581-F3CD32E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195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El buzón anónimo abre una capa de participación más honesta y más privada.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12623-3617-47A5-9950-B2DB95B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43000"/>
            <a:ext cx="3810000" cy="476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2a4759ae24ef5"/>
          <a:stretch xmlns:a="http://schemas.openxmlformats.org/drawingml/2006/main"/>
        </p:blipFill>
        <p:spPr>
          <a:xfrm xmlns:a="http://schemas.openxmlformats.org/drawingml/2006/main">
            <a:off x="8632508" y="1371600"/>
            <a:ext cx="1937385" cy="430530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</p:spTree>
    <p:extLst>
      <p:ext uri="{BB962C8B-B14F-4D97-AF65-F5344CB8AC3E}">
        <p14:creationId xmlns:p14="http://schemas.microsoft.com/office/powerpoint/2010/main" val="1324660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36592-306D-46E9-97AD-DE05E9EF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B7280"/>
                </a:solidFill>
                <a:latin typeface="Inter"/>
                <a:ea typeface="Inter"/>
                <a:cs typeface="Inter"/>
              </a:rPr>
              <a:t>03  Cómo entra 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61169-CC38-4F7E-9A96-B51068F3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El acceso arranca con una invitación y termina dentro del chat.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45DF7-29C5-4758-AFC5-7A70CB90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B7280"/>
                </a:solidFill>
                <a:latin typeface="Inter"/>
                <a:ea typeface="Inter"/>
                <a:cs typeface="Inter"/>
              </a:rPr>
              <a:t>Si la persona no tiene cuenta, VibeLoop puede resolver la entrada como invitado. El objetivo es que entrar al grupo sea rápido y sin fricción.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EAA31-4681-4BB3-A7B7-D424133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676400" cy="18859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1BCE-112D-4F6D-A88F-22100C3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8811E-C3DC-4A53-844F-A3C446D3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5C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7C5C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B2C79-E053-4EC9-A1CF-39DDBB66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Recibe un enlace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2037C-C109-4BEE-938B-A27DB50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97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B7280"/>
                </a:solidFill>
                <a:latin typeface="Inter"/>
                <a:ea typeface="Inter"/>
                <a:cs typeface="Inter"/>
              </a:rPr>
              <a:t>El usuario abre una invitación compartida por el creador del grupo.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4F908-2145-4658-89FB-B079840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6600"/>
            <a:ext cx="1676400" cy="18859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0574A-009F-4042-A9C1-69237D4D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6B77C-4B50-4692-A066-392E2689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7D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F7DF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6F09C-69E4-45EC-88B0-4ED8B1B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862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Se resuelve el acceso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424DA-F889-46E2-8FAB-FA744FCB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81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B7280"/>
                </a:solidFill>
                <a:latin typeface="Inter"/>
                <a:ea typeface="Inter"/>
                <a:cs typeface="Inter"/>
              </a:rPr>
              <a:t>La app valida la invitación y puede entrar como invitado si hace falta.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2B2C0-21E3-4912-B9F0-1AA41B8D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1676400" cy="18859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2EBE2-D227-43F2-84FC-AA1BADB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399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10D08-16E0-43DF-8270-AD9C858D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D399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6D39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B9775-CD71-4B74-9BF5-F2E55FB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862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Llega al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485FA-FDF9-47FF-8B58-902B88A3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57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B7280"/>
                </a:solidFill>
                <a:latin typeface="Inter"/>
                <a:ea typeface="Inter"/>
                <a:cs typeface="Inter"/>
              </a:rPr>
              <a:t>La pantalla final es el grupo: conversación, fotos y acciones rápidas.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4ABCB-E779-4B2F-A396-A99CD70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33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69743-FC72-4692-9A0C-32B4DC7F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A7054-B29C-4938-A489-9B357253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23950"/>
            <a:ext cx="4457700" cy="4895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4e3e1f7534f81"/>
          <a:stretch xmlns:a="http://schemas.openxmlformats.org/drawingml/2006/main"/>
        </p:blipFill>
        <p:spPr>
          <a:xfrm xmlns:a="http://schemas.openxmlformats.org/drawingml/2006/main">
            <a:off x="8308181" y="1333500"/>
            <a:ext cx="2014538" cy="447675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C0720-4D53-4DB9-80B7-72A28E63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91250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invitación puede abrir el grupo desde web o deep link.</a:t>
            </a:r>
          </a:p>
        </p:txBody>
      </p:sp>
    </p:spTree>
    <p:extLst>
      <p:ext uri="{BB962C8B-B14F-4D97-AF65-F5344CB8AC3E}">
        <p14:creationId xmlns:p14="http://schemas.microsoft.com/office/powerpoint/2010/main" val="1859148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6EB72-2428-47A6-89B9-17DDB30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B7280"/>
                </a:solidFill>
                <a:latin typeface="Inter"/>
                <a:ea typeface="Inter"/>
                <a:cs typeface="Inter"/>
              </a:rPr>
              <a:t>04  Qué hace dentro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26AEF-E423-4799-9DC8-05A03B5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4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Dentro del grupo, VibeLoop concentra todas las acciones importantes en un solo lugar.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35D8-9ABD-48A7-B8D9-4D332B4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experiencia está pensada para que la comunidad no tenga que saltar entre varias apps: conversa, comparte y vuelve a entrar al mismo espacio.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8ADBA-A629-46C9-A645-4F1F945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52500" cy="10477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EF6E-F6D5-47FC-816B-DBC0DC1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C91F4-01BD-4242-9A30-B76E7B6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Pantallazo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9059E-FCC1-4AD8-A14C-F08B266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952500" cy="10477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9AC45-0B2E-4708-875F-2B098B4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95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399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37347-FF13-4327-8E44-890EBA03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Invitar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0B250-4439-4A04-B3B7-C918C461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952500" cy="10477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4F1DA-847B-4984-AF1B-409BC03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D860-889D-43D7-98D3-3768F1AB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Link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4D3EE-918F-48C6-AEAB-EB8472A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62300"/>
            <a:ext cx="952500" cy="10477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70196-64DB-4E9F-96F2-D086BFAD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1B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27C2C-B12E-4FD8-864A-5173E5E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Fotos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26F70-6625-4B08-94C5-913ECAF6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2E3F8-EEE6-4FF1-924F-A1D944C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Chat en tiempo real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4FFEC-5D57-484A-9646-897C56AF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Las conversaciones se mantienen vivas dentro del grupo.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66414-5314-4EE9-B8EC-D32317A2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0AFC6-E3AE-48E9-B43C-D8C4DCA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Fotos del grupo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3C480-10C2-4707-9C86-B89B730A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comunidad comparte momentos sin perder el contexto.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ACCC7-46A6-4B3D-B1A8-82CECB6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2D828-237B-48A5-A956-04C79240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Reacciones y presencia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3BF68-747D-4645-A66C-7ABD835C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interacción no se limita al texto.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181A2-7AD6-40EF-AB70-81BCBFA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908FC-F07A-4FFD-99F1-6055347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Acciones rápidas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5471D1-7D56-4F2B-A3ED-FE1AF53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Captura, invitar, link web y fotos están a un toque.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CF383-A0A8-4E95-9DC2-BF955DFA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66800"/>
            <a:ext cx="4343400" cy="50482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a3852b8d44726"/>
          <a:stretch xmlns:a="http://schemas.openxmlformats.org/drawingml/2006/main"/>
        </p:blipFill>
        <p:spPr>
          <a:xfrm xmlns:a="http://schemas.openxmlformats.org/drawingml/2006/main">
            <a:off x="8292941" y="1276350"/>
            <a:ext cx="2083118" cy="46291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</p:spTree>
    <p:extLst>
      <p:ext uri="{BB962C8B-B14F-4D97-AF65-F5344CB8AC3E}">
        <p14:creationId xmlns:p14="http://schemas.microsoft.com/office/powerpoint/2010/main" val="659747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E03D6-68A9-42F8-B0C9-C5ECF6E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B7280"/>
                </a:solidFill>
                <a:latin typeface="Inter"/>
                <a:ea typeface="Inter"/>
                <a:cs typeface="Inter"/>
              </a:rPr>
              <a:t>05  La capa anónima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10EF2-FB36-4E67-9C00-D402103A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El buzón anónimo le da otra voz al grupo.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9AEE7-5E46-4A21-8C1C-6902C50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B7280"/>
                </a:solidFill>
                <a:latin typeface="Inter"/>
                <a:ea typeface="Inter"/>
                <a:cs typeface="Inter"/>
              </a:rPr>
              <a:t>Quien escribe no expone su nombre ni su usuario dentro del flujo del mensaje. Eso permite preguntar, opinar o compartir algo sensible con más libertad.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E860D-BF61-4024-8286-659E077F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6764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0E4E3-3C8E-44AD-8A2D-4297B5E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D399">
                  <a:alpha val="32000"/>
                </a:srgbClr>
              </a:gs>
              <a:gs pos="72000">
                <a:srgbClr val="36D399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DDEC3-BCBF-48C7-A8C5-5BD71EC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Privacidad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AF0E0-7B22-4DFE-90DA-61ACF6B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identidad se mantiene fuera del mensaje publicado.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4F51E-2A54-44C2-B78B-B2D240E3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67100"/>
            <a:ext cx="16764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A1B9B-6DE4-4769-9B44-982CBD7F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F7DFF">
                  <a:alpha val="32000"/>
                </a:srgbClr>
              </a:gs>
              <a:gs pos="72000">
                <a:srgbClr val="4F7D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99BB2-C8DC-41E7-9542-0AA7B81F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385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Confianza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BF729-05AE-4898-BCAE-ACD8844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576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conversación puede sentirse más cercana y más honesta.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E435C-6260-4FCF-B65F-3692011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16764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E4104-CE2D-4358-B2A2-0C73A1D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71B6">
                  <a:alpha val="32000"/>
                </a:srgbClr>
              </a:gs>
              <a:gs pos="72000">
                <a:srgbClr val="FF71B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EEAC-3FD1-48C5-9172-3E55E5F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Cuidado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850E2-AF46-4C39-A123-B198BDDC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función está pensada para convivir, no para abusar.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23510-5B2D-4021-B2F4-BF77969E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95350"/>
            <a:ext cx="4514850" cy="53340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DFE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7b70c92947df"/>
          <a:stretch xmlns:a="http://schemas.openxmlformats.org/drawingml/2006/main"/>
        </p:blipFill>
        <p:spPr>
          <a:xfrm xmlns:a="http://schemas.openxmlformats.org/drawingml/2006/main">
            <a:off x="8254365" y="1162050"/>
            <a:ext cx="2160270" cy="48006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AA81F-E56C-4BF4-9CB2-E65191F4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3436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B7280"/>
                </a:solidFill>
                <a:latin typeface="Inter"/>
                <a:ea typeface="Inter"/>
                <a:cs typeface="Inter"/>
              </a:rPr>
              <a:t>VibeLoop publica el mensaje en el grupo sin mostrar tu identidad dentro del flujo.</a:t>
            </a:r>
          </a:p>
        </p:txBody>
      </p:sp>
    </p:spTree>
    <p:extLst>
      <p:ext uri="{BB962C8B-B14F-4D97-AF65-F5344CB8AC3E}">
        <p14:creationId xmlns:p14="http://schemas.microsoft.com/office/powerpoint/2010/main" val="89887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8D2AB-731C-4286-A032-291EA59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F7DFF">
                  <a:alpha val="32000"/>
                </a:srgbClr>
              </a:gs>
              <a:gs pos="72000">
                <a:srgbClr val="4F7D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B6436-438A-4DE2-B917-734A8D1C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D399">
                  <a:alpha val="22000"/>
                </a:srgbClr>
              </a:gs>
              <a:gs pos="72000">
                <a:srgbClr val="36D399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29082-CA2E-48A8-92F3-E0D0D4B1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CBD5E1"/>
                </a:solidFill>
                <a:latin typeface="Inter"/>
                <a:ea typeface="Inter"/>
                <a:cs typeface="Inter"/>
              </a:rPr>
              <a:t>06  Monetización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250AE-842C-43DD-BF5C-D869D87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El producto ya puede monetizarse con anuncios integrados en puntos concretos del flujo.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C4019-BADF-4825-8297-82E75F8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2D6E6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D2D6E6"/>
                </a:solidFill>
                <a:latin typeface="Inter"/>
                <a:ea typeface="Inter"/>
                <a:cs typeface="Inter"/>
              </a:rPr>
              <a:t>En el código del producto ya existe soporte para banners y acciones que disparan interstitials, como crear un grupo o compartir una invitación.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C1F28-8225-45D9-B33E-FB252F5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7907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F4EC-38F9-4425-B79C-A18A9C12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5C542">
                  <a:alpha val="32000"/>
                </a:srgbClr>
              </a:gs>
              <a:gs pos="72000">
                <a:srgbClr val="F5C54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D49B2-EF1C-4E27-A737-055D17B8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Banners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1EE86-A309-4017-ABFD-DA6900DA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7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Se muestran en pantallas donde no interrumpen el momento principal.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319AF-43E4-4DBE-A2FB-87CAE6E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67100"/>
            <a:ext cx="17907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02EEA-0EC4-42BB-B6C4-EF9B3F4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8C7FF">
                  <a:alpha val="32000"/>
                </a:srgbClr>
              </a:gs>
              <a:gs pos="72000">
                <a:srgbClr val="28C7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92DBD-A124-4991-AE88-1F5B09C3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Interstitials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B806B-96E0-47D8-BB37-95A21FA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Pueden aparecer después de acciones de alto valor, como crear o invitar.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F66AF-EC0B-4EBC-A7DD-0E78708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17907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21616-81EA-4213-B1D7-E289844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5280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D399">
                  <a:alpha val="32000"/>
                </a:srgbClr>
              </a:gs>
              <a:gs pos="72000">
                <a:srgbClr val="36D399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906E0-58A0-44E5-89CF-A0DBF11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Activación por configuración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CD9AA-0239-498C-A94A-0AE1BA6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5765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monetización puede prenderse o apagarse según el despliegue.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25B06-D018-4A9C-92D5-5A8FBBB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28700"/>
            <a:ext cx="4724400" cy="52768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37026cecd41ea"/>
          <a:stretch xmlns:a="http://schemas.openxmlformats.org/drawingml/2006/main"/>
        </p:blipFill>
        <p:spPr>
          <a:xfrm xmlns:a="http://schemas.openxmlformats.org/drawingml/2006/main">
            <a:off x="8095774" y="1257300"/>
            <a:ext cx="2134553" cy="47434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77F7D-643A-4514-BAAE-F2AA603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436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7CBD8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C7CBD8"/>
                </a:solidFill>
                <a:latin typeface="Inter"/>
                <a:ea typeface="Inter"/>
                <a:cs typeface="Inter"/>
              </a:rPr>
              <a:t>La monetización está integrada en el producto, no añadida como un parche.</a:t>
            </a:r>
          </a:p>
        </p:txBody>
      </p:sp>
    </p:spTree>
    <p:extLst>
      <p:ext uri="{BB962C8B-B14F-4D97-AF65-F5344CB8AC3E}">
        <p14:creationId xmlns:p14="http://schemas.microsoft.com/office/powerpoint/2010/main" val="1233440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97B45-0D42-4E48-AD17-271F93B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B7280"/>
                </a:solidFill>
                <a:latin typeface="Inter"/>
                <a:ea typeface="Inter"/>
                <a:cs typeface="Inter"/>
              </a:rPr>
              <a:t>07  Monetización a futuro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F988E-A9A1-467B-B805-030433E7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 medida que la comunidad crece, VibeLoop puede convertirse en una plataforma con varias líneas de ingreso.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B7830-1A3E-4ED0-9B21-AB7EEDC6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oportunidad está en expandir el valor para usuarios, administradores, creadores y marcas sin romper la lógica de comunidad privada.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A3A07-E058-40E7-B28D-82915E7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955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EBC5D-36CB-4C5C-8648-F9E1DE0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8135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C5CFF">
                  <a:alpha val="32000"/>
                </a:srgbClr>
              </a:gs>
              <a:gs pos="72000">
                <a:srgbClr val="7C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5DDF5-09D8-428E-9BDB-C5483A10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Premium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AF7CE-AE1C-4BAB-9162-21107DAD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27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Membresías con funciones avanzadas y comunidades más controladas.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5E87A-919D-422A-8EA0-3FEC3E22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20955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75F92-88F3-432A-8E10-567439E4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F7DFF">
                  <a:alpha val="32000"/>
                </a:srgbClr>
              </a:gs>
              <a:gs pos="72000">
                <a:srgbClr val="4F7D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91560-914F-46F0-ADE1-DCA79EF8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671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Creator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3A454-C2D8-428B-BB9D-48B0B048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27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Herramientas para quienes administran o activan grupos con más frecuencia.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F1676-4983-46B3-AFA2-A5A9FE89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955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CB2A6-3FCF-41B0-9DB9-74D1241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3395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71B6">
                  <a:alpha val="32000"/>
                </a:srgbClr>
              </a:gs>
              <a:gs pos="72000">
                <a:srgbClr val="FF71B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23DB6-9D16-447F-9050-FE5CAC1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Espacios patrocinados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C28B0-0E33-4B59-868D-6118F79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Grupos o experiencias destacadas para marcas y partners.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9449B-862C-4295-81C6-833F5D0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48250"/>
            <a:ext cx="20955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B6F44-6F26-4F42-A93F-25536C37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1143000" cy="114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D399">
                  <a:alpha val="32000"/>
                </a:srgbClr>
              </a:gs>
              <a:gs pos="72000">
                <a:srgbClr val="36D399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6F5F5-3D91-48E7-A62F-8B44978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B2B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440FB-1A16-4B1D-A237-D34F6C22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38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4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Soluciones para eventos, comunidades cerradas y programas internos.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BBC88-F3F0-4B08-8964-66F02023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5054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32fec71bf47cb"/>
          <a:stretch xmlns:a="http://schemas.openxmlformats.org/drawingml/2006/main"/>
        </p:blipFill>
        <p:spPr>
          <a:xfrm xmlns:a="http://schemas.openxmlformats.org/drawingml/2006/main">
            <a:off x="6527006" y="3105150"/>
            <a:ext cx="1157288" cy="25717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14f1b9d224828"/>
          <a:stretch xmlns:a="http://schemas.openxmlformats.org/drawingml/2006/main"/>
        </p:blipFill>
        <p:spPr>
          <a:xfrm xmlns:a="http://schemas.openxmlformats.org/drawingml/2006/main">
            <a:off x="9127331" y="3105150"/>
            <a:ext cx="1157288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8875F-CAFD-43B5-921D-05929B2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B7280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La base ya existe: ahora se trata de escalar el modelo sin perder la esencia.</a:t>
            </a:r>
          </a:p>
        </p:txBody>
      </p:sp>
    </p:spTree>
    <p:extLst>
      <p:ext uri="{BB962C8B-B14F-4D97-AF65-F5344CB8AC3E}">
        <p14:creationId xmlns:p14="http://schemas.microsoft.com/office/powerpoint/2010/main" val="106281818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E22"/>
            </a:gs>
            <a:gs pos="44000">
              <a:srgbClr val="14163A"/>
            </a:gs>
            <a:gs pos="100000">
              <a:srgbClr val="26124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C0F60-AD37-44A3-A98F-32DCB4A0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C5CFF">
                  <a:alpha val="28000"/>
                </a:srgbClr>
              </a:gs>
              <a:gs pos="72000">
                <a:srgbClr val="7C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B1A8-9183-4E05-B28F-09BFB3A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34290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8C7FF">
                  <a:alpha val="18000"/>
                </a:srgbClr>
              </a:gs>
              <a:gs pos="72000">
                <a:srgbClr val="28C7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c3b6be1f84bed"/>
          <a:stretch xmlns:a="http://schemas.openxmlformats.org/drawingml/2006/main"/>
        </p:blipFill>
        <p:spPr>
          <a:xfrm xmlns:a="http://schemas.openxmlformats.org/drawingml/2006/main">
            <a:off x="685800" y="666750"/>
            <a:ext cx="647700" cy="647700"/>
          </a:xfrm>
          <a:prstGeom xmlns:a="http://schemas.openxmlformats.org/drawingml/2006/main" prst="ellipse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E27D-A4A5-4F5F-8B83-58D269C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007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VibeLoop convierte una comunidad privada en un producto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A2A76-2682-4BBF-85E1-42857D81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7DAE5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D7DAE5"/>
                </a:solidFill>
                <a:latin typeface="Inter"/>
                <a:ea typeface="Inter"/>
                <a:cs typeface="Inter"/>
              </a:rPr>
              <a:t>Entrar, participar, compartir, invitar y volver a entrar. Ese es el loop que la experiencia quiere sostener.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D2F7B-AFAE-458E-8CC5-3DECDB8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Comunidad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8E30-9DE2-4C13-81C8-FD063DEE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162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Privacidad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90E78-CB91-40A9-A956-A045EDED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Negocio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EC4C4-5C0A-4B5D-86BB-7687CC25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3981450" cy="472440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0211aca4f4631"/>
          <a:stretch xmlns:a="http://schemas.openxmlformats.org/drawingml/2006/main"/>
        </p:blipFill>
        <p:spPr>
          <a:xfrm xmlns:a="http://schemas.openxmlformats.org/drawingml/2006/main">
            <a:off x="8102441" y="1295400"/>
            <a:ext cx="1911668" cy="4248150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FE669-B273-45F5-AABA-0CEDE0F8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817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Listo para presentar</a:t>
            </a:r>
          </a:p>
        </p:txBody>
      </p:sp>
    </p:spTree>
    <p:extLst>
      <p:ext uri="{BB962C8B-B14F-4D97-AF65-F5344CB8AC3E}">
        <p14:creationId xmlns:p14="http://schemas.microsoft.com/office/powerpoint/2010/main" val="443508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2026-07-14T15:17:29.8270000Z</dcterms:created>
  <dcterms:modified xsi:type="dcterms:W3CDTF">2026-07-14T15:17:29.8270000Z</dcterms:modified>
</coreProperties>
</file>